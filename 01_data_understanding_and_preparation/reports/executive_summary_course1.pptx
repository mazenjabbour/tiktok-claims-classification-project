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Lst>
  <p:sldSz cy="10058400" cx="7772400"/>
  <p:notesSz cx="6858000" cy="9144000"/>
  <p:embeddedFontLst>
    <p:embeddedFont>
      <p:font typeface="Google Sans SemiBold"/>
      <p:regular r:id="rId7"/>
      <p:bold r:id="rId8"/>
      <p:italic r:id="rId9"/>
      <p:boldItalic r:id="rId10"/>
    </p:embeddedFont>
    <p:embeddedFont>
      <p:font typeface="Roboto"/>
      <p:regular r:id="rId11"/>
      <p:bold r:id="rId12"/>
      <p:italic r:id="rId13"/>
      <p:boldItalic r:id="rId14"/>
    </p:embeddedFont>
    <p:embeddedFont>
      <p:font typeface="PT Sans Narrow"/>
      <p:regular r:id="rId15"/>
      <p:bold r:id="rId16"/>
    </p:embeddedFont>
    <p:embeddedFont>
      <p:font typeface="Lato"/>
      <p:regular r:id="rId17"/>
      <p:bold r:id="rId18"/>
      <p:italic r:id="rId19"/>
      <p:boldItalic r:id="rId20"/>
    </p:embeddedFont>
    <p:embeddedFont>
      <p:font typeface="Google Sans"/>
      <p:regular r:id="rId21"/>
      <p:bold r:id="rId22"/>
      <p:italic r:id="rId23"/>
      <p:boldItalic r:id="rId24"/>
    </p:embeddedFont>
    <p:embeddedFont>
      <p:font typeface="Work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22" Type="http://schemas.openxmlformats.org/officeDocument/2006/relationships/font" Target="fonts/GoogleSans-bold.fntdata"/><Relationship Id="rId21" Type="http://schemas.openxmlformats.org/officeDocument/2006/relationships/font" Target="fonts/GoogleSans-regular.fntdata"/><Relationship Id="rId24" Type="http://schemas.openxmlformats.org/officeDocument/2006/relationships/font" Target="fonts/GoogleSans-boldItalic.fntdata"/><Relationship Id="rId23" Type="http://schemas.openxmlformats.org/officeDocument/2006/relationships/font" Target="fonts/Google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GoogleSansSemiBold-italic.fntdata"/><Relationship Id="rId26" Type="http://schemas.openxmlformats.org/officeDocument/2006/relationships/font" Target="fonts/WorkSans-bold.fntdata"/><Relationship Id="rId25" Type="http://schemas.openxmlformats.org/officeDocument/2006/relationships/font" Target="fonts/WorkSans-regular.fntdata"/><Relationship Id="rId28" Type="http://schemas.openxmlformats.org/officeDocument/2006/relationships/font" Target="fonts/WorkSans-boldItalic.fntdata"/><Relationship Id="rId27" Type="http://schemas.openxmlformats.org/officeDocument/2006/relationships/font" Target="fonts/Work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GoogleSansSemiBold-regular.fntdata"/><Relationship Id="rId8" Type="http://schemas.openxmlformats.org/officeDocument/2006/relationships/font" Target="fonts/GoogleSansSemiBold-bold.fntdata"/><Relationship Id="rId11" Type="http://schemas.openxmlformats.org/officeDocument/2006/relationships/font" Target="fonts/Roboto-regular.fntdata"/><Relationship Id="rId10" Type="http://schemas.openxmlformats.org/officeDocument/2006/relationships/font" Target="fonts/GoogleSansSemiBold-boldItalic.fntdata"/><Relationship Id="rId13" Type="http://schemas.openxmlformats.org/officeDocument/2006/relationships/font" Target="fonts/Roboto-italic.fntdata"/><Relationship Id="rId12" Type="http://schemas.openxmlformats.org/officeDocument/2006/relationships/font" Target="fonts/Roboto-bold.fntdata"/><Relationship Id="rId15" Type="http://schemas.openxmlformats.org/officeDocument/2006/relationships/font" Target="fonts/PTSansNarrow-regular.fntdata"/><Relationship Id="rId14" Type="http://schemas.openxmlformats.org/officeDocument/2006/relationships/font" Target="fonts/Roboto-boldItalic.fntdata"/><Relationship Id="rId17" Type="http://schemas.openxmlformats.org/officeDocument/2006/relationships/font" Target="fonts/Lato-regular.fntdata"/><Relationship Id="rId16" Type="http://schemas.openxmlformats.org/officeDocument/2006/relationships/font" Target="fonts/PTSansNarrow-bold.fntdata"/><Relationship Id="rId19" Type="http://schemas.openxmlformats.org/officeDocument/2006/relationships/font" Target="fonts/Lato-italic.fntdata"/><Relationship Id="rId18" Type="http://schemas.openxmlformats.org/officeDocument/2006/relationships/font" Target="fonts/La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c77f95637b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c77f9563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0"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6" name="Google Shape;16;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 name="Google Shape;23;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41" name="Google Shape;41;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48" name="Google Shape;48;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62" name="Shape 62"/>
        <p:cNvGrpSpPr/>
        <p:nvPr/>
      </p:nvGrpSpPr>
      <p:grpSpPr>
        <a:xfrm>
          <a:off x="0" y="0"/>
          <a:ext cx="0" cy="0"/>
          <a:chOff x="0" y="0"/>
          <a:chExt cx="0" cy="0"/>
        </a:xfrm>
      </p:grpSpPr>
      <p:cxnSp>
        <p:nvCxnSpPr>
          <p:cNvPr id="63" name="Google Shape;63;p3"/>
          <p:cNvCxnSpPr>
            <a:stCxn id="64" idx="1"/>
          </p:cNvCxnSpPr>
          <p:nvPr/>
        </p:nvCxnSpPr>
        <p:spPr>
          <a:xfrm>
            <a:off x="3033472" y="937660"/>
            <a:ext cx="15900" cy="6568200"/>
          </a:xfrm>
          <a:prstGeom prst="straightConnector1">
            <a:avLst/>
          </a:prstGeom>
          <a:noFill/>
          <a:ln cap="flat" cmpd="sng" w="9525">
            <a:solidFill>
              <a:srgbClr val="CCCCCC"/>
            </a:solidFill>
            <a:prstDash val="solid"/>
            <a:round/>
            <a:headEnd len="med" w="med" type="none"/>
            <a:tailEnd len="med" w="med" type="none"/>
          </a:ln>
        </p:spPr>
      </p:cxnSp>
      <p:grpSp>
        <p:nvGrpSpPr>
          <p:cNvPr id="65" name="Google Shape;65;p3"/>
          <p:cNvGrpSpPr/>
          <p:nvPr/>
        </p:nvGrpSpPr>
        <p:grpSpPr>
          <a:xfrm>
            <a:off x="190345" y="900758"/>
            <a:ext cx="7581747" cy="5906"/>
            <a:chOff x="1890075" y="5241175"/>
            <a:chExt cx="4240556" cy="257700"/>
          </a:xfrm>
        </p:grpSpPr>
        <p:sp>
          <p:nvSpPr>
            <p:cNvPr id="66" name="Google Shape;66;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67" name="Google Shape;67;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68" name="Google Shape;68;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69" name="Google Shape;69;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70" name="Google Shape;70;p3"/>
          <p:cNvGrpSpPr/>
          <p:nvPr/>
        </p:nvGrpSpPr>
        <p:grpSpPr>
          <a:xfrm>
            <a:off x="190320" y="931759"/>
            <a:ext cx="7581691" cy="5901"/>
            <a:chOff x="1890075" y="5241175"/>
            <a:chExt cx="4240556" cy="257700"/>
          </a:xfrm>
        </p:grpSpPr>
        <p:sp>
          <p:nvSpPr>
            <p:cNvPr id="71" name="Google Shape;71;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2" name="Google Shape;72;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3" name="Google Shape;73;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4" name="Google Shape;74;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75" name="Google Shape;75;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76" name="Google Shape;76;p3"/>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77" name="Google Shape;77;p3"/>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78" name="Google Shape;78;p3"/>
          <p:cNvSpPr/>
          <p:nvPr/>
        </p:nvSpPr>
        <p:spPr>
          <a:xfrm>
            <a:off x="159875" y="7502350"/>
            <a:ext cx="7612200" cy="2379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 name="Google Shape;79;p3"/>
          <p:cNvGrpSpPr/>
          <p:nvPr/>
        </p:nvGrpSpPr>
        <p:grpSpPr>
          <a:xfrm>
            <a:off x="190320" y="900657"/>
            <a:ext cx="7581691" cy="5901"/>
            <a:chOff x="1890075" y="5241175"/>
            <a:chExt cx="4240556" cy="257700"/>
          </a:xfrm>
        </p:grpSpPr>
        <p:sp>
          <p:nvSpPr>
            <p:cNvPr id="80" name="Google Shape;80;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1" name="Google Shape;81;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2" name="Google Shape;82;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3" name="Google Shape;83;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84" name="Google Shape;84;p3"/>
          <p:cNvGrpSpPr/>
          <p:nvPr/>
        </p:nvGrpSpPr>
        <p:grpSpPr>
          <a:xfrm>
            <a:off x="190320" y="931759"/>
            <a:ext cx="7581691" cy="5901"/>
            <a:chOff x="1890075" y="5241175"/>
            <a:chExt cx="4240556" cy="257700"/>
          </a:xfrm>
        </p:grpSpPr>
        <p:sp>
          <p:nvSpPr>
            <p:cNvPr id="85" name="Google Shape;85;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64" name="Google Shape;64;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6" name="Google Shape;86;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7" name="Google Shape;87;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88" name="Google Shape;88;p3"/>
          <p:cNvSpPr/>
          <p:nvPr/>
        </p:nvSpPr>
        <p:spPr>
          <a:xfrm rot="248910">
            <a:off x="7469568" y="-16320"/>
            <a:ext cx="1791494" cy="10540289"/>
          </a:xfrm>
          <a:prstGeom prst="rtTriangle">
            <a:avLst/>
          </a:prstGeom>
          <a:solidFill>
            <a:srgbClr val="5757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89" name="Google Shape;89;p3"/>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0" name="Google Shape;90;p3"/>
          <p:cNvGrpSpPr/>
          <p:nvPr/>
        </p:nvGrpSpPr>
        <p:grpSpPr>
          <a:xfrm>
            <a:off x="172024" y="1040825"/>
            <a:ext cx="137818" cy="187200"/>
            <a:chOff x="507100" y="1997600"/>
            <a:chExt cx="158375" cy="187200"/>
          </a:xfrm>
        </p:grpSpPr>
        <p:sp>
          <p:nvSpPr>
            <p:cNvPr id="91" name="Google Shape;91;p3"/>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507100" y="2017025"/>
              <a:ext cx="135900" cy="146700"/>
            </a:xfrm>
            <a:prstGeom prst="chevron">
              <a:avLst>
                <a:gd fmla="val 50000" name="adj"/>
              </a:avLst>
            </a:prstGeom>
            <a:solidFill>
              <a:srgbClr val="4069DD"/>
            </a:solidFill>
            <a:ln cap="flat" cmpd="sng" w="9525">
              <a:solidFill>
                <a:srgbClr val="406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3"/>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94" name="Google Shape;94;p3"/>
          <p:cNvGrpSpPr/>
          <p:nvPr/>
        </p:nvGrpSpPr>
        <p:grpSpPr>
          <a:xfrm>
            <a:off x="190349" y="2907725"/>
            <a:ext cx="137818" cy="187200"/>
            <a:chOff x="507100" y="1540400"/>
            <a:chExt cx="158375" cy="187200"/>
          </a:xfrm>
        </p:grpSpPr>
        <p:sp>
          <p:nvSpPr>
            <p:cNvPr id="95" name="Google Shape;95;p3"/>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507100" y="1559825"/>
              <a:ext cx="135900" cy="146700"/>
            </a:xfrm>
            <a:prstGeom prst="chevron">
              <a:avLst>
                <a:gd fmla="val 50000" name="adj"/>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3"/>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98" name="Google Shape;98;p3"/>
          <p:cNvGrpSpPr/>
          <p:nvPr/>
        </p:nvGrpSpPr>
        <p:grpSpPr>
          <a:xfrm>
            <a:off x="172024" y="5506200"/>
            <a:ext cx="137818" cy="187200"/>
            <a:chOff x="507100" y="1997600"/>
            <a:chExt cx="158375" cy="187200"/>
          </a:xfrm>
        </p:grpSpPr>
        <p:sp>
          <p:nvSpPr>
            <p:cNvPr id="99" name="Google Shape;99;p3"/>
            <p:cNvSpPr/>
            <p:nvPr/>
          </p:nvSpPr>
          <p:spPr>
            <a:xfrm>
              <a:off x="529575" y="1997600"/>
              <a:ext cx="135900" cy="187200"/>
            </a:xfrm>
            <a:prstGeom prst="chevron">
              <a:avLst>
                <a:gd fmla="val 50000" name="adj"/>
              </a:avLst>
            </a:prstGeom>
            <a:solidFill>
              <a:srgbClr val="F4B4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507100" y="2017025"/>
              <a:ext cx="135900" cy="146700"/>
            </a:xfrm>
            <a:prstGeom prst="chevron">
              <a:avLst>
                <a:gd fmla="val 50000" name="adj"/>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 name="Google Shape;101;p3"/>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102" name="Google Shape;102;p3"/>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3" name="Google Shape;103;p3"/>
          <p:cNvGrpSpPr/>
          <p:nvPr/>
        </p:nvGrpSpPr>
        <p:grpSpPr>
          <a:xfrm>
            <a:off x="172024" y="7607808"/>
            <a:ext cx="137818" cy="187200"/>
            <a:chOff x="507100" y="1997600"/>
            <a:chExt cx="158375" cy="187200"/>
          </a:xfrm>
        </p:grpSpPr>
        <p:sp>
          <p:nvSpPr>
            <p:cNvPr id="104" name="Google Shape;104;p3"/>
            <p:cNvSpPr/>
            <p:nvPr/>
          </p:nvSpPr>
          <p:spPr>
            <a:xfrm>
              <a:off x="529575" y="1997600"/>
              <a:ext cx="135900" cy="187200"/>
            </a:xfrm>
            <a:prstGeom prst="chevron">
              <a:avLst>
                <a:gd fmla="val 50000" name="adj"/>
              </a:avLst>
            </a:prstGeom>
            <a:solidFill>
              <a:srgbClr val="0F9D5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507100" y="2017025"/>
              <a:ext cx="135900" cy="146700"/>
            </a:xfrm>
            <a:prstGeom prst="chevron">
              <a:avLst>
                <a:gd fmla="val 50000" name="adj"/>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3"/>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07" name="Shape 107"/>
        <p:cNvGrpSpPr/>
        <p:nvPr/>
      </p:nvGrpSpPr>
      <p:grpSpPr>
        <a:xfrm>
          <a:off x="0" y="0"/>
          <a:ext cx="0" cy="0"/>
          <a:chOff x="0" y="0"/>
          <a:chExt cx="0" cy="0"/>
        </a:xfrm>
      </p:grpSpPr>
      <p:cxnSp>
        <p:nvCxnSpPr>
          <p:cNvPr id="108" name="Google Shape;108;p4"/>
          <p:cNvCxnSpPr/>
          <p:nvPr/>
        </p:nvCxnSpPr>
        <p:spPr>
          <a:xfrm>
            <a:off x="417963" y="311025"/>
            <a:ext cx="28200" cy="8777100"/>
          </a:xfrm>
          <a:prstGeom prst="straightConnector1">
            <a:avLst/>
          </a:prstGeom>
          <a:noFill/>
          <a:ln cap="flat" cmpd="sng" w="9525">
            <a:solidFill>
              <a:srgbClr val="B7B7B7"/>
            </a:solidFill>
            <a:prstDash val="solid"/>
            <a:round/>
            <a:headEnd len="med" w="med" type="none"/>
            <a:tailEnd len="med" w="med" type="none"/>
          </a:ln>
        </p:spPr>
      </p:cxnSp>
      <p:grpSp>
        <p:nvGrpSpPr>
          <p:cNvPr id="109" name="Google Shape;109;p4"/>
          <p:cNvGrpSpPr/>
          <p:nvPr/>
        </p:nvGrpSpPr>
        <p:grpSpPr>
          <a:xfrm>
            <a:off x="404725" y="1300475"/>
            <a:ext cx="6908400" cy="72025"/>
            <a:chOff x="404725" y="1681475"/>
            <a:chExt cx="6908400" cy="72025"/>
          </a:xfrm>
        </p:grpSpPr>
        <p:cxnSp>
          <p:nvCxnSpPr>
            <p:cNvPr id="110" name="Google Shape;110;p4"/>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111" name="Google Shape;111;p4"/>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112" name="Google Shape;112;p4"/>
          <p:cNvCxnSpPr/>
          <p:nvPr/>
        </p:nvCxnSpPr>
        <p:spPr>
          <a:xfrm>
            <a:off x="7326238" y="6225"/>
            <a:ext cx="28200" cy="8777100"/>
          </a:xfrm>
          <a:prstGeom prst="straightConnector1">
            <a:avLst/>
          </a:prstGeom>
          <a:noFill/>
          <a:ln cap="flat" cmpd="sng" w="9525">
            <a:solidFill>
              <a:srgbClr val="B7B7B7"/>
            </a:solidFill>
            <a:prstDash val="solid"/>
            <a:round/>
            <a:headEnd len="med" w="med" type="none"/>
            <a:tailEnd len="med" w="med" type="none"/>
          </a:ln>
        </p:spPr>
      </p:cxnSp>
      <p:cxnSp>
        <p:nvCxnSpPr>
          <p:cNvPr id="113" name="Google Shape;113;p4"/>
          <p:cNvCxnSpPr/>
          <p:nvPr/>
        </p:nvCxnSpPr>
        <p:spPr>
          <a:xfrm rot="10800000">
            <a:off x="438150" y="32766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114" name="Google Shape;114;p4"/>
          <p:cNvCxnSpPr/>
          <p:nvPr/>
        </p:nvCxnSpPr>
        <p:spPr>
          <a:xfrm>
            <a:off x="3861475" y="3505200"/>
            <a:ext cx="0" cy="5611800"/>
          </a:xfrm>
          <a:prstGeom prst="straightConnector1">
            <a:avLst/>
          </a:prstGeom>
          <a:noFill/>
          <a:ln cap="flat" cmpd="sng" w="9525">
            <a:solidFill>
              <a:srgbClr val="B7B7B7"/>
            </a:solidFill>
            <a:prstDash val="solid"/>
            <a:round/>
            <a:headEnd len="med" w="med" type="none"/>
            <a:tailEnd len="med" w="med" type="none"/>
          </a:ln>
        </p:spPr>
      </p:cxnSp>
      <p:grpSp>
        <p:nvGrpSpPr>
          <p:cNvPr id="115" name="Google Shape;115;p4"/>
          <p:cNvGrpSpPr/>
          <p:nvPr/>
        </p:nvGrpSpPr>
        <p:grpSpPr>
          <a:xfrm>
            <a:off x="417975" y="1504250"/>
            <a:ext cx="2357775" cy="410125"/>
            <a:chOff x="417975" y="1885250"/>
            <a:chExt cx="2357775" cy="410125"/>
          </a:xfrm>
        </p:grpSpPr>
        <p:sp>
          <p:nvSpPr>
            <p:cNvPr id="116" name="Google Shape;116;p4"/>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 name="Google Shape;120;p4"/>
          <p:cNvGrpSpPr/>
          <p:nvPr/>
        </p:nvGrpSpPr>
        <p:grpSpPr>
          <a:xfrm>
            <a:off x="417975" y="3276600"/>
            <a:ext cx="2357775" cy="410125"/>
            <a:chOff x="265575" y="3352800"/>
            <a:chExt cx="2357775" cy="410125"/>
          </a:xfrm>
        </p:grpSpPr>
        <p:sp>
          <p:nvSpPr>
            <p:cNvPr id="121" name="Google Shape;121;p4"/>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 name="Google Shape;125;p4"/>
          <p:cNvGrpSpPr/>
          <p:nvPr/>
        </p:nvGrpSpPr>
        <p:grpSpPr>
          <a:xfrm>
            <a:off x="3872044" y="3276600"/>
            <a:ext cx="2747987" cy="410125"/>
            <a:chOff x="3567313" y="3200400"/>
            <a:chExt cx="2357775" cy="410125"/>
          </a:xfrm>
        </p:grpSpPr>
        <p:sp>
          <p:nvSpPr>
            <p:cNvPr id="126" name="Google Shape;126;p4"/>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4"/>
          <p:cNvGrpSpPr/>
          <p:nvPr/>
        </p:nvGrpSpPr>
        <p:grpSpPr>
          <a:xfrm>
            <a:off x="417963" y="6597750"/>
            <a:ext cx="2357775" cy="410125"/>
            <a:chOff x="-39237" y="6140550"/>
            <a:chExt cx="2357775" cy="410125"/>
          </a:xfrm>
        </p:grpSpPr>
        <p:sp>
          <p:nvSpPr>
            <p:cNvPr id="131" name="Google Shape;131;p4"/>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 name="Google Shape;135;p4"/>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36" name="Google Shape;136;p4"/>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37" name="Google Shape;137;p4"/>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38" name="Google Shape;138;p4"/>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39" name="Google Shape;139;p4"/>
          <p:cNvSpPr txBox="1"/>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40" name="Google Shape;140;p4"/>
          <p:cNvSpPr txBox="1"/>
          <p:nvPr/>
        </p:nvSpPr>
        <p:spPr>
          <a:xfrm>
            <a:off x="438138" y="3915350"/>
            <a:ext cx="3108300" cy="23700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41" name="Google Shape;141;p4"/>
          <p:cNvSpPr txBox="1"/>
          <p:nvPr/>
        </p:nvSpPr>
        <p:spPr>
          <a:xfrm>
            <a:off x="438150" y="7050750"/>
            <a:ext cx="3108300" cy="22554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42" name="Google Shape;142;p4"/>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43" name="Google Shape;143;p4"/>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1200"/>
              </a:spcAft>
              <a:buNone/>
            </a:pPr>
            <a:r>
              <a:t/>
            </a:r>
            <a:endParaRPr i="1" sz="1100">
              <a:solidFill>
                <a:srgbClr val="595959"/>
              </a:solidFill>
              <a:latin typeface="Google Sans"/>
              <a:ea typeface="Google Sans"/>
              <a:cs typeface="Google Sans"/>
              <a:sym typeface="Google Sans"/>
            </a:endParaRPr>
          </a:p>
        </p:txBody>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44" name="Shape 144"/>
        <p:cNvGrpSpPr/>
        <p:nvPr/>
      </p:nvGrpSpPr>
      <p:grpSpPr>
        <a:xfrm>
          <a:off x="0" y="0"/>
          <a:ext cx="0" cy="0"/>
          <a:chOff x="0" y="0"/>
          <a:chExt cx="0" cy="0"/>
        </a:xfrm>
      </p:grpSpPr>
      <p:sp>
        <p:nvSpPr>
          <p:cNvPr id="145" name="Google Shape;145;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sp>
        <p:nvSpPr>
          <p:cNvPr id="146" name="Google Shape;146;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grpSp>
        <p:nvGrpSpPr>
          <p:cNvPr id="147" name="Google Shape;147;p5"/>
          <p:cNvGrpSpPr/>
          <p:nvPr/>
        </p:nvGrpSpPr>
        <p:grpSpPr>
          <a:xfrm>
            <a:off x="95351" y="1392509"/>
            <a:ext cx="7581691" cy="5901"/>
            <a:chOff x="1890075" y="5241175"/>
            <a:chExt cx="4240556" cy="257700"/>
          </a:xfrm>
        </p:grpSpPr>
        <p:sp>
          <p:nvSpPr>
            <p:cNvPr id="148" name="Google Shape;14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49" name="Google Shape;14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50" name="Google Shape;15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51" name="Google Shape;15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152" name="Google Shape;152;p5"/>
          <p:cNvGrpSpPr/>
          <p:nvPr/>
        </p:nvGrpSpPr>
        <p:grpSpPr>
          <a:xfrm>
            <a:off x="95351" y="4542984"/>
            <a:ext cx="7581691" cy="5901"/>
            <a:chOff x="1890075" y="5241175"/>
            <a:chExt cx="4240556" cy="257700"/>
          </a:xfrm>
        </p:grpSpPr>
        <p:sp>
          <p:nvSpPr>
            <p:cNvPr id="153" name="Google Shape;15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54" name="Google Shape;15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55" name="Google Shape;15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56" name="Google Shape;15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157" name="Google Shape;157;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58" name="Google Shape;158;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59" name="Google Shape;159;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60" name="Google Shape;160;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61" name="Google Shape;161;p5"/>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62" name="Google Shape;162;p5"/>
          <p:cNvGrpSpPr/>
          <p:nvPr/>
        </p:nvGrpSpPr>
        <p:grpSpPr>
          <a:xfrm>
            <a:off x="95351" y="8200359"/>
            <a:ext cx="7581691" cy="5901"/>
            <a:chOff x="1890075" y="5241175"/>
            <a:chExt cx="4240556" cy="257700"/>
          </a:xfrm>
        </p:grpSpPr>
        <p:sp>
          <p:nvSpPr>
            <p:cNvPr id="163" name="Google Shape;16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4" name="Google Shape;16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5" name="Google Shape;16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6" name="Google Shape;16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67" name="Shape 167"/>
        <p:cNvGrpSpPr/>
        <p:nvPr/>
      </p:nvGrpSpPr>
      <p:grpSpPr>
        <a:xfrm>
          <a:off x="0" y="0"/>
          <a:ext cx="0" cy="0"/>
          <a:chOff x="0" y="0"/>
          <a:chExt cx="0" cy="0"/>
        </a:xfrm>
      </p:grpSpPr>
      <p:sp>
        <p:nvSpPr>
          <p:cNvPr id="168" name="Google Shape;168;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69" name="Google Shape;169;p6"/>
          <p:cNvGrpSpPr/>
          <p:nvPr/>
        </p:nvGrpSpPr>
        <p:grpSpPr>
          <a:xfrm>
            <a:off x="-16250" y="9048087"/>
            <a:ext cx="7804900" cy="1072407"/>
            <a:chOff x="-19118" y="4617750"/>
            <a:chExt cx="9182236" cy="548378"/>
          </a:xfrm>
        </p:grpSpPr>
        <p:sp>
          <p:nvSpPr>
            <p:cNvPr id="170" name="Google Shape;170;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71" name="Google Shape;171;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72" name="Shape 17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8"/>
          <p:cNvSpPr txBox="1"/>
          <p:nvPr/>
        </p:nvSpPr>
        <p:spPr>
          <a:xfrm>
            <a:off x="226200" y="3227100"/>
            <a:ext cx="27738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Google Sans"/>
                <a:ea typeface="Google Sans"/>
                <a:cs typeface="Google Sans"/>
                <a:sym typeface="Google Sans"/>
              </a:rPr>
              <a:t>T</a:t>
            </a:r>
            <a:r>
              <a:rPr lang="en" sz="1200">
                <a:solidFill>
                  <a:schemeClr val="dk1"/>
                </a:solidFill>
                <a:latin typeface="Google Sans"/>
                <a:ea typeface="Google Sans"/>
                <a:cs typeface="Google Sans"/>
                <a:sym typeface="Google Sans"/>
              </a:rPr>
              <a:t>he data team performed a preliminary investigation of the claims classification dataset with the aim of learning important relationships between variables.</a:t>
            </a:r>
            <a:endParaRPr sz="1200">
              <a:solidFill>
                <a:schemeClr val="dk1"/>
              </a:solidFill>
              <a:latin typeface="Google Sans"/>
              <a:ea typeface="Google Sans"/>
              <a:cs typeface="Google Sans"/>
              <a:sym typeface="Google Sans"/>
            </a:endParaRPr>
          </a:p>
          <a:p>
            <a:pPr indent="0" lvl="0" marL="0" rtl="0" algn="l">
              <a:spcBef>
                <a:spcPts val="0"/>
              </a:spcBef>
              <a:spcAft>
                <a:spcPts val="0"/>
              </a:spcAft>
              <a:buClr>
                <a:schemeClr val="dk1"/>
              </a:buClr>
              <a:buSzPts val="1100"/>
              <a:buFont typeface="Arial"/>
              <a:buNone/>
            </a:pPr>
            <a:r>
              <a:t/>
            </a:r>
            <a:endParaRPr sz="1200">
              <a:solidFill>
                <a:schemeClr val="dk1"/>
              </a:solidFill>
              <a:latin typeface="Google Sans"/>
              <a:ea typeface="Google Sans"/>
              <a:cs typeface="Google Sans"/>
              <a:sym typeface="Google Sans"/>
            </a:endParaRPr>
          </a:p>
          <a:p>
            <a:pPr indent="0" lvl="0" marL="0" rtl="0" algn="l">
              <a:spcBef>
                <a:spcPts val="0"/>
              </a:spcBef>
              <a:spcAft>
                <a:spcPts val="1000"/>
              </a:spcAft>
              <a:buNone/>
            </a:pPr>
            <a:r>
              <a:rPr lang="en" sz="1200">
                <a:solidFill>
                  <a:schemeClr val="dk1"/>
                </a:solidFill>
                <a:latin typeface="Google Sans"/>
                <a:ea typeface="Google Sans"/>
                <a:cs typeface="Google Sans"/>
                <a:sym typeface="Google Sans"/>
              </a:rPr>
              <a:t>Given the ask for a classification of user claims, the data team looked at the counts of claims and opinions in order to understand the count of each type of video content.</a:t>
            </a:r>
            <a:endParaRPr>
              <a:solidFill>
                <a:schemeClr val="dk1"/>
              </a:solidFill>
              <a:latin typeface="Google Sans"/>
              <a:ea typeface="Google Sans"/>
              <a:cs typeface="Google Sans"/>
              <a:sym typeface="Google Sans"/>
            </a:endParaRPr>
          </a:p>
        </p:txBody>
      </p:sp>
      <p:sp>
        <p:nvSpPr>
          <p:cNvPr id="178" name="Google Shape;178;p8"/>
          <p:cNvSpPr txBox="1"/>
          <p:nvPr/>
        </p:nvSpPr>
        <p:spPr>
          <a:xfrm>
            <a:off x="281500" y="1269175"/>
            <a:ext cx="25293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Google Sans"/>
                <a:ea typeface="Google Sans"/>
                <a:cs typeface="Google Sans"/>
                <a:sym typeface="Google Sans"/>
              </a:rPr>
              <a:t>The </a:t>
            </a:r>
            <a:r>
              <a:rPr lang="en" sz="1200">
                <a:solidFill>
                  <a:schemeClr val="dk1"/>
                </a:solidFill>
                <a:latin typeface="Google Sans"/>
                <a:ea typeface="Google Sans"/>
                <a:cs typeface="Google Sans"/>
                <a:sym typeface="Google Sans"/>
              </a:rPr>
              <a:t>TikTok </a:t>
            </a:r>
            <a:r>
              <a:rPr lang="en" sz="1200">
                <a:solidFill>
                  <a:schemeClr val="dk1"/>
                </a:solidFill>
                <a:latin typeface="Google Sans"/>
                <a:ea typeface="Google Sans"/>
                <a:cs typeface="Google Sans"/>
                <a:sym typeface="Google Sans"/>
              </a:rPr>
              <a:t>data</a:t>
            </a:r>
            <a:r>
              <a:rPr lang="en" sz="1200">
                <a:solidFill>
                  <a:schemeClr val="dk1"/>
                </a:solidFill>
                <a:latin typeface="Google Sans"/>
                <a:ea typeface="Google Sans"/>
                <a:cs typeface="Google Sans"/>
                <a:sym typeface="Google Sans"/>
              </a:rPr>
              <a:t> team seeks to develop a machine learning model to assist in the classification of claims for user submissions. To begin, t</a:t>
            </a:r>
            <a:r>
              <a:rPr lang="en" sz="1200">
                <a:solidFill>
                  <a:schemeClr val="dk1"/>
                </a:solidFill>
                <a:latin typeface="Google Sans"/>
                <a:ea typeface="Google Sans"/>
                <a:cs typeface="Google Sans"/>
                <a:sym typeface="Google Sans"/>
              </a:rPr>
              <a:t>he data team needs to organize the raw dataset and prepare it for future exploratory data analysis. </a:t>
            </a:r>
            <a:endParaRPr sz="1200">
              <a:latin typeface="Google Sans"/>
              <a:ea typeface="Google Sans"/>
              <a:cs typeface="Google Sans"/>
              <a:sym typeface="Google Sans"/>
            </a:endParaRPr>
          </a:p>
        </p:txBody>
      </p:sp>
      <p:sp>
        <p:nvSpPr>
          <p:cNvPr id="179" name="Google Shape;179;p8"/>
          <p:cNvSpPr txBox="1"/>
          <p:nvPr/>
        </p:nvSpPr>
        <p:spPr>
          <a:xfrm>
            <a:off x="156750" y="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Executive Summary</a:t>
            </a:r>
            <a:endParaRPr b="1" sz="2100">
              <a:latin typeface="Google Sans"/>
              <a:ea typeface="Google Sans"/>
              <a:cs typeface="Google Sans"/>
              <a:sym typeface="Google Sans"/>
            </a:endParaRPr>
          </a:p>
        </p:txBody>
      </p:sp>
      <p:sp>
        <p:nvSpPr>
          <p:cNvPr id="180" name="Google Shape;180;p8"/>
          <p:cNvSpPr txBox="1"/>
          <p:nvPr/>
        </p:nvSpPr>
        <p:spPr>
          <a:xfrm>
            <a:off x="1763100" y="4908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Milestone 2 of the TikTok Claims Classification Project</a:t>
            </a:r>
            <a:endParaRPr sz="1200">
              <a:solidFill>
                <a:srgbClr val="000000"/>
              </a:solidFill>
              <a:latin typeface="PT Sans Narrow"/>
              <a:ea typeface="PT Sans Narrow"/>
              <a:cs typeface="PT Sans Narrow"/>
              <a:sym typeface="PT Sans Narrow"/>
            </a:endParaRPr>
          </a:p>
        </p:txBody>
      </p:sp>
      <p:sp>
        <p:nvSpPr>
          <p:cNvPr id="181" name="Google Shape;181;p8"/>
          <p:cNvSpPr txBox="1"/>
          <p:nvPr/>
        </p:nvSpPr>
        <p:spPr>
          <a:xfrm>
            <a:off x="226200" y="5670675"/>
            <a:ext cx="2886000" cy="256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Google Sans"/>
                <a:ea typeface="Google Sans"/>
                <a:cs typeface="Google Sans"/>
                <a:sym typeface="Google Sans"/>
              </a:rPr>
              <a:t>The impact of this preliminary analysis will be evident in the next steps. </a:t>
            </a:r>
            <a:r>
              <a:rPr lang="en" sz="1200">
                <a:solidFill>
                  <a:schemeClr val="dk1"/>
                </a:solidFill>
                <a:latin typeface="Google Sans"/>
                <a:ea typeface="Google Sans"/>
                <a:cs typeface="Google Sans"/>
                <a:sym typeface="Google Sans"/>
              </a:rPr>
              <a:t>In order t</a:t>
            </a:r>
            <a:r>
              <a:rPr lang="en" sz="1200">
                <a:solidFill>
                  <a:schemeClr val="dk1"/>
                </a:solidFill>
                <a:latin typeface="Google Sans"/>
                <a:ea typeface="Google Sans"/>
                <a:cs typeface="Google Sans"/>
                <a:sym typeface="Google Sans"/>
              </a:rPr>
              <a:t>o understand the impact of user videos, the data team identified two i</a:t>
            </a:r>
            <a:r>
              <a:rPr lang="en" sz="1200">
                <a:latin typeface="Google Sans"/>
                <a:ea typeface="Google Sans"/>
                <a:cs typeface="Google Sans"/>
                <a:sym typeface="Google Sans"/>
              </a:rPr>
              <a:t>mportant variables to consider. The variables  video_duration (in seconds) and video_view_count are both important factors to consider for future prediction models. </a:t>
            </a:r>
            <a:endParaRPr sz="1200">
              <a:latin typeface="Google Sans"/>
              <a:ea typeface="Google Sans"/>
              <a:cs typeface="Google Sans"/>
              <a:sym typeface="Google Sans"/>
            </a:endParaRPr>
          </a:p>
          <a:p>
            <a:pPr indent="0" lvl="0" marL="0" rtl="0" algn="l">
              <a:spcBef>
                <a:spcPts val="1000"/>
              </a:spcBef>
              <a:spcAft>
                <a:spcPts val="0"/>
              </a:spcAft>
              <a:buClr>
                <a:schemeClr val="dk1"/>
              </a:buClr>
              <a:buSzPts val="1100"/>
              <a:buFont typeface="Arial"/>
              <a:buNone/>
            </a:pPr>
            <a:r>
              <a:t/>
            </a:r>
            <a:endParaRPr sz="1200">
              <a:latin typeface="Google Sans"/>
              <a:ea typeface="Google Sans"/>
              <a:cs typeface="Google Sans"/>
              <a:sym typeface="Google Sans"/>
            </a:endParaRPr>
          </a:p>
          <a:p>
            <a:pPr indent="0" lvl="0" marL="0" rtl="0" algn="l">
              <a:spcBef>
                <a:spcPts val="0"/>
              </a:spcBef>
              <a:spcAft>
                <a:spcPts val="0"/>
              </a:spcAft>
              <a:buClr>
                <a:schemeClr val="dk1"/>
              </a:buClr>
              <a:buSzPts val="1100"/>
              <a:buFont typeface="Arial"/>
              <a:buNone/>
            </a:pPr>
            <a:r>
              <a:t/>
            </a:r>
            <a:endParaRPr>
              <a:solidFill>
                <a:schemeClr val="dk1"/>
              </a:solidFill>
              <a:latin typeface="Google Sans"/>
              <a:ea typeface="Google Sans"/>
              <a:cs typeface="Google Sans"/>
              <a:sym typeface="Google Sans"/>
            </a:endParaRPr>
          </a:p>
          <a:p>
            <a:pPr indent="0" lvl="0" marL="0" rtl="0" algn="l">
              <a:spcBef>
                <a:spcPts val="0"/>
              </a:spcBef>
              <a:spcAft>
                <a:spcPts val="1000"/>
              </a:spcAft>
              <a:buNone/>
            </a:pPr>
            <a:r>
              <a:t/>
            </a:r>
            <a:endParaRPr sz="1200">
              <a:latin typeface="Google Sans"/>
              <a:ea typeface="Google Sans"/>
              <a:cs typeface="Google Sans"/>
              <a:sym typeface="Google Sans"/>
            </a:endParaRPr>
          </a:p>
        </p:txBody>
      </p:sp>
      <p:sp>
        <p:nvSpPr>
          <p:cNvPr id="182" name="Google Shape;182;p8"/>
          <p:cNvSpPr txBox="1"/>
          <p:nvPr/>
        </p:nvSpPr>
        <p:spPr>
          <a:xfrm>
            <a:off x="129100" y="7793425"/>
            <a:ext cx="3951300" cy="23448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Google Sans"/>
              <a:buChar char="●"/>
            </a:pPr>
            <a:r>
              <a:rPr lang="en" sz="1200">
                <a:solidFill>
                  <a:schemeClr val="dk1"/>
                </a:solidFill>
                <a:latin typeface="Google Sans"/>
                <a:ea typeface="Google Sans"/>
                <a:cs typeface="Google Sans"/>
                <a:sym typeface="Google Sans"/>
              </a:rPr>
              <a:t>There is a n</a:t>
            </a:r>
            <a:r>
              <a:rPr lang="en" sz="1200">
                <a:solidFill>
                  <a:schemeClr val="dk1"/>
                </a:solidFill>
                <a:latin typeface="Google Sans"/>
                <a:ea typeface="Google Sans"/>
                <a:cs typeface="Google Sans"/>
                <a:sym typeface="Google Sans"/>
              </a:rPr>
              <a:t>ear equal balance of opinions versus claims. With this understanding, we can proceed with our future analysis knowing that there is a fairly balanced amount of claims and opinions for the videos included within this dataset.</a:t>
            </a:r>
            <a:endParaRPr sz="1200">
              <a:solidFill>
                <a:schemeClr val="dk1"/>
              </a:solidFill>
              <a:latin typeface="Google Sans"/>
              <a:ea typeface="Google Sans"/>
              <a:cs typeface="Google Sans"/>
              <a:sym typeface="Google Sans"/>
            </a:endParaRPr>
          </a:p>
          <a:p>
            <a:pPr indent="-304800" lvl="0" marL="457200" rtl="0" algn="l">
              <a:spcBef>
                <a:spcPts val="1000"/>
              </a:spcBef>
              <a:spcAft>
                <a:spcPts val="0"/>
              </a:spcAft>
              <a:buClr>
                <a:schemeClr val="dk1"/>
              </a:buClr>
              <a:buSzPts val="1200"/>
              <a:buFont typeface="Google Sans"/>
              <a:buChar char="●"/>
            </a:pPr>
            <a:r>
              <a:rPr lang="en" sz="1200">
                <a:solidFill>
                  <a:schemeClr val="dk1"/>
                </a:solidFill>
                <a:latin typeface="Google Sans"/>
                <a:ea typeface="Google Sans"/>
                <a:cs typeface="Google Sans"/>
                <a:sym typeface="Google Sans"/>
              </a:rPr>
              <a:t>With the key variables identified and the initial investigation of the claims classification dataset, the process of exploratory data analysis can begin.</a:t>
            </a:r>
            <a:endParaRPr sz="12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sz="1200">
              <a:solidFill>
                <a:schemeClr val="dk1"/>
              </a:solidFill>
              <a:latin typeface="Google Sans"/>
              <a:ea typeface="Google Sans"/>
              <a:cs typeface="Google Sans"/>
              <a:sym typeface="Google Sans"/>
            </a:endParaRPr>
          </a:p>
        </p:txBody>
      </p:sp>
      <p:sp>
        <p:nvSpPr>
          <p:cNvPr id="183" name="Google Shape;183;p8"/>
          <p:cNvSpPr txBox="1"/>
          <p:nvPr/>
        </p:nvSpPr>
        <p:spPr>
          <a:xfrm>
            <a:off x="4080350" y="937600"/>
            <a:ext cx="252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Google Sans"/>
                <a:ea typeface="Google Sans"/>
                <a:cs typeface="Google Sans"/>
                <a:sym typeface="Google Sans"/>
              </a:rPr>
              <a:t>UNDERSTANDING THE DATA</a:t>
            </a:r>
            <a:endParaRPr>
              <a:latin typeface="Google Sans"/>
              <a:ea typeface="Google Sans"/>
              <a:cs typeface="Google Sans"/>
              <a:sym typeface="Google Sans"/>
            </a:endParaRPr>
          </a:p>
        </p:txBody>
      </p:sp>
      <p:sp>
        <p:nvSpPr>
          <p:cNvPr id="184" name="Google Shape;184;p8"/>
          <p:cNvSpPr txBox="1"/>
          <p:nvPr/>
        </p:nvSpPr>
        <p:spPr>
          <a:xfrm>
            <a:off x="3221900" y="1262850"/>
            <a:ext cx="4246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Google Sans"/>
                <a:ea typeface="Google Sans"/>
                <a:cs typeface="Google Sans"/>
                <a:sym typeface="Google Sans"/>
              </a:rPr>
              <a:t>After reviewing the provided dataset, the variable  claim_status seemed </a:t>
            </a:r>
            <a:r>
              <a:rPr lang="en" sz="1200">
                <a:solidFill>
                  <a:schemeClr val="dk1"/>
                </a:solidFill>
                <a:latin typeface="Google Sans"/>
                <a:ea typeface="Google Sans"/>
                <a:cs typeface="Google Sans"/>
                <a:sym typeface="Google Sans"/>
              </a:rPr>
              <a:t>particularly</a:t>
            </a:r>
            <a:r>
              <a:rPr lang="en" sz="1200">
                <a:solidFill>
                  <a:schemeClr val="dk1"/>
                </a:solidFill>
                <a:latin typeface="Google Sans"/>
                <a:ea typeface="Google Sans"/>
                <a:cs typeface="Google Sans"/>
                <a:sym typeface="Google Sans"/>
              </a:rPr>
              <a:t> useful, given the client’s proposed project. The following screenshots show important points of analysis required to understand the claim_status variable.</a:t>
            </a:r>
            <a:endParaRPr sz="1200">
              <a:latin typeface="Google Sans"/>
              <a:ea typeface="Google Sans"/>
              <a:cs typeface="Google Sans"/>
              <a:sym typeface="Google Sans"/>
            </a:endParaRPr>
          </a:p>
        </p:txBody>
      </p:sp>
      <p:pic>
        <p:nvPicPr>
          <p:cNvPr id="185" name="Google Shape;185;p8"/>
          <p:cNvPicPr preferRelativeResize="0"/>
          <p:nvPr/>
        </p:nvPicPr>
        <p:blipFill>
          <a:blip r:embed="rId3">
            <a:alphaModFix/>
          </a:blip>
          <a:stretch>
            <a:fillRect/>
          </a:stretch>
        </p:blipFill>
        <p:spPr>
          <a:xfrm>
            <a:off x="3349513" y="2441875"/>
            <a:ext cx="2886075" cy="895350"/>
          </a:xfrm>
          <a:prstGeom prst="rect">
            <a:avLst/>
          </a:prstGeom>
          <a:noFill/>
          <a:ln>
            <a:noFill/>
          </a:ln>
        </p:spPr>
      </p:pic>
      <p:sp>
        <p:nvSpPr>
          <p:cNvPr id="186" name="Google Shape;186;p8"/>
          <p:cNvSpPr txBox="1"/>
          <p:nvPr/>
        </p:nvSpPr>
        <p:spPr>
          <a:xfrm>
            <a:off x="3292550" y="3261025"/>
            <a:ext cx="4175400" cy="4402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Google Sans"/>
                <a:ea typeface="Google Sans"/>
                <a:cs typeface="Google Sans"/>
                <a:sym typeface="Google Sans"/>
              </a:rPr>
              <a:t>Note: </a:t>
            </a:r>
            <a:r>
              <a:rPr lang="en" sz="1200">
                <a:solidFill>
                  <a:schemeClr val="dk1"/>
                </a:solidFill>
                <a:latin typeface="Google Sans"/>
                <a:ea typeface="Google Sans"/>
                <a:cs typeface="Google Sans"/>
                <a:sym typeface="Google Sans"/>
              </a:rPr>
              <a:t>The counts of each claim status are quite balanced. There are 9,608 claims and 9,476 opinions.</a:t>
            </a:r>
            <a:endParaRPr sz="12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a:solidFill>
                <a:schemeClr val="dk1"/>
              </a:solidFill>
              <a:latin typeface="Google Sans"/>
              <a:ea typeface="Google Sans"/>
              <a:cs typeface="Google Sans"/>
              <a:sym typeface="Google Sans"/>
            </a:endParaRPr>
          </a:p>
          <a:p>
            <a:pPr indent="457200" lvl="0" marL="457200" rtl="0" algn="l">
              <a:spcBef>
                <a:spcPts val="0"/>
              </a:spcBef>
              <a:spcAft>
                <a:spcPts val="0"/>
              </a:spcAft>
              <a:buNone/>
            </a:pPr>
            <a:r>
              <a:rPr lang="en">
                <a:solidFill>
                  <a:schemeClr val="dk1"/>
                </a:solidFill>
                <a:latin typeface="Google Sans"/>
                <a:ea typeface="Google Sans"/>
                <a:cs typeface="Google Sans"/>
                <a:sym typeface="Google Sans"/>
              </a:rPr>
              <a:t>ENGAGEMENT TRENDS</a:t>
            </a:r>
            <a:endParaRPr>
              <a:solidFill>
                <a:schemeClr val="dk1"/>
              </a:solidFill>
              <a:latin typeface="Google Sans"/>
              <a:ea typeface="Google Sans"/>
              <a:cs typeface="Google Sans"/>
              <a:sym typeface="Google Sans"/>
            </a:endParaRPr>
          </a:p>
          <a:p>
            <a:pPr indent="0" lvl="0" marL="0" rtl="0" algn="l">
              <a:spcBef>
                <a:spcPts val="1000"/>
              </a:spcBef>
              <a:spcAft>
                <a:spcPts val="0"/>
              </a:spcAft>
              <a:buNone/>
            </a:pPr>
            <a:r>
              <a:rPr lang="en" sz="1200">
                <a:solidFill>
                  <a:schemeClr val="dk1"/>
                </a:solidFill>
                <a:latin typeface="Google Sans"/>
                <a:ea typeface="Google Sans"/>
                <a:cs typeface="Google Sans"/>
                <a:sym typeface="Google Sans"/>
              </a:rPr>
              <a:t>The data team considered viewer engagement with each video in the claim and opinion categories. In order to understand viewer engagement, the data team considered the view count. The mean and median view count show the impact of each category of video; specifically, the mean and median view counts for both categories show the association between content (claim or opinion) and the video views. </a:t>
            </a:r>
            <a:endParaRPr sz="12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a:solidFill>
                <a:schemeClr val="dk1"/>
              </a:solidFill>
              <a:latin typeface="Google Sans"/>
              <a:ea typeface="Google Sans"/>
              <a:cs typeface="Google Sans"/>
              <a:sym typeface="Google Sans"/>
            </a:endParaRPr>
          </a:p>
          <a:p>
            <a:pPr indent="0" lvl="0" marL="0" rtl="0" algn="l">
              <a:spcBef>
                <a:spcPts val="0"/>
              </a:spcBef>
              <a:spcAft>
                <a:spcPts val="0"/>
              </a:spcAft>
              <a:buNone/>
            </a:pPr>
            <a:r>
              <a:rPr b="1" lang="en" sz="1200">
                <a:solidFill>
                  <a:schemeClr val="dk1"/>
                </a:solidFill>
                <a:latin typeface="Google Sans"/>
                <a:ea typeface="Google Sans"/>
                <a:cs typeface="Google Sans"/>
                <a:sym typeface="Google Sans"/>
              </a:rPr>
              <a:t>Claims:</a:t>
            </a:r>
            <a:endParaRPr b="1" sz="1200">
              <a:solidFill>
                <a:schemeClr val="dk1"/>
              </a:solidFill>
              <a:latin typeface="Google Sans"/>
              <a:ea typeface="Google Sans"/>
              <a:cs typeface="Google Sans"/>
              <a:sym typeface="Google Sans"/>
            </a:endParaRPr>
          </a:p>
          <a:p>
            <a:pPr indent="0" lvl="0" marL="0" rtl="0" algn="l">
              <a:spcBef>
                <a:spcPts val="1000"/>
              </a:spcBef>
              <a:spcAft>
                <a:spcPts val="0"/>
              </a:spcAft>
              <a:buNone/>
            </a:pPr>
            <a:r>
              <a:rPr lang="en" sz="1050">
                <a:solidFill>
                  <a:schemeClr val="accent2"/>
                </a:solidFill>
                <a:highlight>
                  <a:srgbClr val="FFFFFF"/>
                </a:highlight>
                <a:latin typeface="Courier New"/>
                <a:ea typeface="Courier New"/>
                <a:cs typeface="Courier New"/>
                <a:sym typeface="Courier New"/>
              </a:rPr>
              <a:t>Mean view count claims: 501029.4527477102</a:t>
            </a:r>
            <a:endParaRPr sz="1050">
              <a:solidFill>
                <a:schemeClr val="accent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050">
                <a:solidFill>
                  <a:schemeClr val="accent2"/>
                </a:solidFill>
                <a:highlight>
                  <a:srgbClr val="FFFFFF"/>
                </a:highlight>
                <a:latin typeface="Courier New"/>
                <a:ea typeface="Courier New"/>
                <a:cs typeface="Courier New"/>
                <a:sym typeface="Courier New"/>
              </a:rPr>
              <a:t>Median view count claims: 501555.0</a:t>
            </a:r>
            <a:endParaRPr sz="1050">
              <a:solidFill>
                <a:schemeClr val="accent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050">
              <a:solidFill>
                <a:schemeClr val="accent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Google Sans"/>
                <a:ea typeface="Google Sans"/>
                <a:cs typeface="Google Sans"/>
                <a:sym typeface="Google Sans"/>
              </a:rPr>
              <a:t>Opinions</a:t>
            </a:r>
            <a:r>
              <a:rPr b="1" lang="en" sz="1200">
                <a:solidFill>
                  <a:schemeClr val="dk1"/>
                </a:solidFill>
                <a:latin typeface="Google Sans"/>
                <a:ea typeface="Google Sans"/>
                <a:cs typeface="Google Sans"/>
                <a:sym typeface="Google Sans"/>
              </a:rPr>
              <a:t>:</a:t>
            </a:r>
            <a:endParaRPr sz="850">
              <a:solidFill>
                <a:schemeClr val="accent2"/>
              </a:solidFill>
              <a:highlight>
                <a:srgbClr val="FFFFFF"/>
              </a:highlight>
              <a:latin typeface="Courier New"/>
              <a:ea typeface="Courier New"/>
              <a:cs typeface="Courier New"/>
              <a:sym typeface="Courier New"/>
            </a:endParaRPr>
          </a:p>
          <a:p>
            <a:pPr indent="0" lvl="0" marL="0" rtl="0" algn="l">
              <a:spcBef>
                <a:spcPts val="1000"/>
              </a:spcBef>
              <a:spcAft>
                <a:spcPts val="0"/>
              </a:spcAft>
              <a:buNone/>
            </a:pPr>
            <a:r>
              <a:rPr lang="en" sz="1050">
                <a:solidFill>
                  <a:schemeClr val="accent2"/>
                </a:solidFill>
                <a:highlight>
                  <a:srgbClr val="FFFFFF"/>
                </a:highlight>
                <a:latin typeface="Courier New"/>
                <a:ea typeface="Courier New"/>
                <a:cs typeface="Courier New"/>
                <a:sym typeface="Courier New"/>
              </a:rPr>
              <a:t>Mean view count opinions: 4956.43224989447</a:t>
            </a:r>
            <a:endParaRPr sz="1050">
              <a:solidFill>
                <a:schemeClr val="accent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050">
                <a:solidFill>
                  <a:schemeClr val="accent2"/>
                </a:solidFill>
                <a:highlight>
                  <a:srgbClr val="FFFFFF"/>
                </a:highlight>
                <a:latin typeface="Courier New"/>
                <a:ea typeface="Courier New"/>
                <a:cs typeface="Courier New"/>
                <a:sym typeface="Courier New"/>
              </a:rPr>
              <a:t>Median view count opinions: 4953.0</a:t>
            </a:r>
            <a:endParaRPr sz="1050">
              <a:solidFill>
                <a:schemeClr val="accent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050">
              <a:solidFill>
                <a:schemeClr val="accent2"/>
              </a:solidFill>
              <a:highlight>
                <a:srgbClr val="FFFFFF"/>
              </a:highlight>
              <a:latin typeface="Courier New"/>
              <a:ea typeface="Courier New"/>
              <a:cs typeface="Courier New"/>
              <a:sym typeface="Courier New"/>
            </a:endParaRPr>
          </a:p>
        </p:txBody>
      </p:sp>
      <p:pic>
        <p:nvPicPr>
          <p:cNvPr descr="Pie chart showing 9,670 claims and 9,512 opinions" id="187" name="Google Shape;187;p8" title="Pie chart"/>
          <p:cNvPicPr preferRelativeResize="0"/>
          <p:nvPr/>
        </p:nvPicPr>
        <p:blipFill rotWithShape="1">
          <a:blip r:embed="rId4">
            <a:alphaModFix/>
          </a:blip>
          <a:srcRect b="0" l="0" r="0" t="-7515"/>
          <a:stretch/>
        </p:blipFill>
        <p:spPr>
          <a:xfrm>
            <a:off x="4574783" y="7594175"/>
            <a:ext cx="1664893" cy="2216400"/>
          </a:xfrm>
          <a:prstGeom prst="rect">
            <a:avLst/>
          </a:prstGeom>
          <a:noFill/>
          <a:ln cap="flat" cmpd="sng" w="19050">
            <a:solidFill>
              <a:schemeClr val="lt1"/>
            </a:solidFill>
            <a:prstDash val="solid"/>
            <a:round/>
            <a:headEnd len="sm" w="sm" type="none"/>
            <a:tailEnd len="sm" w="sm" type="none"/>
          </a:ln>
        </p:spPr>
      </p:pic>
      <p:sp>
        <p:nvSpPr>
          <p:cNvPr id="188" name="Google Shape;188;p8"/>
          <p:cNvSpPr txBox="1"/>
          <p:nvPr/>
        </p:nvSpPr>
        <p:spPr>
          <a:xfrm>
            <a:off x="4156600" y="7517975"/>
            <a:ext cx="3000000" cy="2769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i="1" lang="en" sz="600">
                <a:solidFill>
                  <a:srgbClr val="444746"/>
                </a:solidFill>
                <a:highlight>
                  <a:schemeClr val="lt1"/>
                </a:highlight>
                <a:latin typeface="Google Sans"/>
                <a:ea typeface="Google Sans"/>
                <a:cs typeface="Google Sans"/>
                <a:sym typeface="Google Sans"/>
              </a:rPr>
              <a:t>Pie chart visualizes the comparison of the count of claims and opinions</a:t>
            </a:r>
            <a:endParaRPr i="1" sz="600">
              <a:solidFill>
                <a:schemeClr val="dk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